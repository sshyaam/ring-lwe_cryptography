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04" r:id="rId2"/>
    <p:sldMasterId id="2147483705" r:id="rId3"/>
  </p:sldMasterIdLst>
  <p:notesMasterIdLst>
    <p:notesMasterId r:id="rId17"/>
  </p:notesMasterIdLst>
  <p:sldIdLst>
    <p:sldId id="256" r:id="rId4"/>
    <p:sldId id="365" r:id="rId5"/>
    <p:sldId id="366" r:id="rId6"/>
    <p:sldId id="353" r:id="rId7"/>
    <p:sldId id="367" r:id="rId8"/>
    <p:sldId id="355" r:id="rId9"/>
    <p:sldId id="361" r:id="rId10"/>
    <p:sldId id="357" r:id="rId11"/>
    <p:sldId id="358" r:id="rId12"/>
    <p:sldId id="362" r:id="rId13"/>
    <p:sldId id="363" r:id="rId14"/>
    <p:sldId id="368" r:id="rId15"/>
    <p:sldId id="364" r:id="rId16"/>
  </p:sldIdLst>
  <p:sldSz cx="9144000" cy="5143500" type="screen16x9"/>
  <p:notesSz cx="6858000" cy="9144000"/>
  <p:embeddedFontLst>
    <p:embeddedFont>
      <p:font typeface="Crimson Text" panose="020B0604020202020204" charset="0"/>
      <p:regular r:id="rId18"/>
      <p:bold r:id="rId19"/>
      <p:italic r:id="rId20"/>
      <p:boldItalic r:id="rId21"/>
    </p:embeddedFont>
    <p:embeddedFont>
      <p:font typeface="Josefin Sans" pitchFamily="2" charset="0"/>
      <p:regular r:id="rId22"/>
    </p:embeddedFont>
    <p:embeddedFont>
      <p:font typeface="Lato" panose="020F0502020204030203" pitchFamily="34" charset="0"/>
      <p:regular r:id="rId23"/>
      <p:bold r:id="rId24"/>
      <p:italic r:id="rId25"/>
      <p:boldItalic r:id="rId26"/>
    </p:embeddedFont>
    <p:embeddedFont>
      <p:font typeface="Mako" panose="020B0604020202020204" charset="0"/>
      <p:regular r:id="rId27"/>
    </p:embeddedFont>
    <p:embeddedFont>
      <p:font typeface="Merriweather Light" panose="00000400000000000000" pitchFamily="2" charset="0"/>
      <p:regular r:id="rId28"/>
      <p:bold r:id="rId29"/>
      <p:italic r:id="rId30"/>
      <p:boldItalic r:id="rId31"/>
    </p:embeddedFont>
    <p:embeddedFont>
      <p:font typeface="Montserrat" panose="00000500000000000000" pitchFamily="2"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Open Sans SemiBold" panose="020B0706030804020204" pitchFamily="34" charset="0"/>
      <p:regular r:id="rId40"/>
      <p:bold r:id="rId41"/>
      <p:italic r:id="rId42"/>
      <p:boldItalic r:id="rId43"/>
    </p:embeddedFont>
    <p:embeddedFont>
      <p:font typeface="Proxima Nova" panose="020B0604020202020204" charset="0"/>
      <p:regular r:id="rId44"/>
      <p:bold r:id="rId45"/>
      <p:italic r:id="rId46"/>
      <p:boldItalic r:id="rId47"/>
    </p:embeddedFont>
    <p:embeddedFont>
      <p:font typeface="Proxima Nova Semibold" panose="020B0604020202020204" charset="0"/>
      <p:regular r:id="rId48"/>
      <p:bold r:id="rId49"/>
      <p:boldItalic r:id="rId50"/>
    </p:embeddedFont>
    <p:embeddedFont>
      <p:font typeface="Russo One" panose="020B0604020202020204" charset="0"/>
      <p:regular r:id="rId51"/>
    </p:embeddedFont>
    <p:embeddedFont>
      <p:font typeface="Vidaloka" panose="020B0604020202020204" charset="0"/>
      <p:regular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704">
          <p15:clr>
            <a:srgbClr val="9AA0A6"/>
          </p15:clr>
        </p15:guide>
        <p15:guide id="2" pos="4392">
          <p15:clr>
            <a:srgbClr val="9AA0A6"/>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7377BD-BBD7-4AD3-8676-DCC096E73BCF}">
  <a:tblStyle styleId="{A47377BD-BBD7-4AD3-8676-DCC096E73B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1104" y="174"/>
      </p:cViewPr>
      <p:guideLst>
        <p:guide pos="3704"/>
        <p:guide pos="4392"/>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font" Target="fonts/font25.fntdata"/><Relationship Id="rId47" Type="http://schemas.openxmlformats.org/officeDocument/2006/relationships/font" Target="fonts/font30.fntdata"/><Relationship Id="rId50" Type="http://schemas.openxmlformats.org/officeDocument/2006/relationships/font" Target="fonts/font33.fntdata"/><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2.fntdata"/><Relationship Id="rId11" Type="http://schemas.openxmlformats.org/officeDocument/2006/relationships/slide" Target="slides/slide8.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45" Type="http://schemas.openxmlformats.org/officeDocument/2006/relationships/font" Target="fonts/font28.fntdata"/><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font" Target="fonts/font27.fntdata"/><Relationship Id="rId52" Type="http://schemas.openxmlformats.org/officeDocument/2006/relationships/font" Target="fonts/font3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font" Target="fonts/font26.fntdata"/><Relationship Id="rId48" Type="http://schemas.openxmlformats.org/officeDocument/2006/relationships/font" Target="fonts/font31.fntdata"/><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34.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schemas.openxmlformats.org/officeDocument/2006/relationships/font" Target="fonts/font29.fntdata"/><Relationship Id="rId20" Type="http://schemas.openxmlformats.org/officeDocument/2006/relationships/font" Target="fonts/font3.fntdata"/><Relationship Id="rId41" Type="http://schemas.openxmlformats.org/officeDocument/2006/relationships/font" Target="fonts/font2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font" Target="fonts/font3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009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8593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8593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9039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9039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8593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85932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9039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90397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34" name="Google Shape;134;p18"/>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9" name="Google Shape;169;p23"/>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0" name="Google Shape;170;p23"/>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1" name="Google Shape;171;p23"/>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2" name="Google Shape;172;p23"/>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3" name="Google Shape;173;p23"/>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4" name="Google Shape;174;p23"/>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23"/>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3"/>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1" name="Google Shape;181;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2" name="Google Shape;182;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3" name="Google Shape;183;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84" name="Google Shape;184;p24"/>
          <p:cNvSpPr txBox="1">
            <a:spLocks noGrp="1"/>
          </p:cNvSpPr>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rtl="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rtl="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rtl="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rtl="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rtl="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rtl="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rtl="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rtl="0">
              <a:lnSpc>
                <a:spcPct val="100000"/>
              </a:lnSpc>
              <a:spcBef>
                <a:spcPts val="0"/>
              </a:spcBef>
              <a:spcAft>
                <a:spcPts val="0"/>
              </a:spcAft>
              <a:buSzPts val="1400"/>
              <a:buChar char="■"/>
              <a:defRPr sz="3000">
                <a:latin typeface="Vidaloka"/>
                <a:ea typeface="Vidaloka"/>
                <a:cs typeface="Vidaloka"/>
                <a:sym typeface="Vidalok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85"/>
        <p:cNvGrpSpPr/>
        <p:nvPr/>
      </p:nvGrpSpPr>
      <p:grpSpPr>
        <a:xfrm>
          <a:off x="0" y="0"/>
          <a:ext cx="0" cy="0"/>
          <a:chOff x="0" y="0"/>
          <a:chExt cx="0" cy="0"/>
        </a:xfrm>
      </p:grpSpPr>
      <p:sp>
        <p:nvSpPr>
          <p:cNvPr id="186" name="Google Shape;186;p25"/>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88" name="Google Shape;188;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9" name="Google Shape;189;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0" name="Google Shape;190;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1" name="Google Shape;191;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4" name="Google Shape;194;p26"/>
          <p:cNvSpPr txBox="1">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195" name="Google Shape;195;p26"/>
          <p:cNvSpPr txBox="1">
            <a:spLocks noGrp="1"/>
          </p:cNvSpPr>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96" name="Google Shape;196;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7" name="Google Shape;197;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8" name="Google Shape;198;p26"/>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73850" y="944250"/>
            <a:ext cx="24753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1" name="Google Shape;201;p27"/>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2" name="Google Shape;202;p27"/>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3" name="Google Shape;203;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4" name="Google Shape;204;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5" name="Google Shape;205;p2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6" name="Google Shape;206;p2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7" name="Google Shape;207;p2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8" name="Google Shape;208;p2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1" name="Google Shape;211;p28"/>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2" name="Google Shape;212;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3" name="Google Shape;213;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4" name="Google Shape;214;p28"/>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8" name="Google Shape;218;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9" name="Google Shape;219;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1" name="Google Shape;221;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2" name="Google Shape;222;p2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3" name="Google Shape;223;p2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24"/>
        <p:cNvGrpSpPr/>
        <p:nvPr/>
      </p:nvGrpSpPr>
      <p:grpSpPr>
        <a:xfrm>
          <a:off x="0" y="0"/>
          <a:ext cx="0" cy="0"/>
          <a:chOff x="0" y="0"/>
          <a:chExt cx="0" cy="0"/>
        </a:xfrm>
      </p:grpSpPr>
      <p:sp>
        <p:nvSpPr>
          <p:cNvPr id="225" name="Google Shape;225;p30"/>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6" name="Google Shape;226;p30"/>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7" name="Google Shape;227;p30"/>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28" name="Google Shape;228;p30"/>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9" name="Google Shape;229;p30"/>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0" name="Google Shape;230;p30"/>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1" name="Google Shape;231;p30"/>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2" name="Google Shape;232;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3" name="Google Shape;233;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234"/>
        <p:cNvGrpSpPr/>
        <p:nvPr/>
      </p:nvGrpSpPr>
      <p:grpSpPr>
        <a:xfrm>
          <a:off x="0" y="0"/>
          <a:ext cx="0" cy="0"/>
          <a:chOff x="0" y="0"/>
          <a:chExt cx="0" cy="0"/>
        </a:xfrm>
      </p:grpSpPr>
      <p:sp>
        <p:nvSpPr>
          <p:cNvPr id="235" name="Google Shape;235;p31"/>
          <p:cNvSpPr txBox="1">
            <a:spLocks noGrp="1"/>
          </p:cNvSpPr>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7" name="Google Shape;237;p31"/>
          <p:cNvSpPr txBox="1">
            <a:spLocks noGrp="1"/>
          </p:cNvSpPr>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8" name="Google Shape;238;p31"/>
          <p:cNvSpPr txBox="1">
            <a:spLocks noGrp="1"/>
          </p:cNvSpPr>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9" name="Google Shape;239;p31"/>
          <p:cNvSpPr txBox="1">
            <a:spLocks noGrp="1"/>
          </p:cNvSpPr>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0" name="Google Shape;240;p31"/>
          <p:cNvSpPr txBox="1">
            <a:spLocks noGrp="1"/>
          </p:cNvSpPr>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1" name="Google Shape;241;p31"/>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242" name="Google Shape;242;p31"/>
          <p:cNvSpPr txBox="1">
            <a:spLocks noGrp="1"/>
          </p:cNvSpPr>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3" name="Google Shape;243;p31"/>
          <p:cNvSpPr txBox="1">
            <a:spLocks noGrp="1"/>
          </p:cNvSpPr>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4" name="Google Shape;244;p31"/>
          <p:cNvSpPr txBox="1">
            <a:spLocks noGrp="1"/>
          </p:cNvSpPr>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5" name="Google Shape;245;p31"/>
          <p:cNvSpPr txBox="1">
            <a:spLocks noGrp="1"/>
          </p:cNvSpPr>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6" name="Google Shape;246;p31"/>
          <p:cNvSpPr txBox="1">
            <a:spLocks noGrp="1"/>
          </p:cNvSpPr>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7" name="Google Shape;247;p31"/>
          <p:cNvSpPr txBox="1">
            <a:spLocks noGrp="1"/>
          </p:cNvSpPr>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248" name="Google Shape;248;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9" name="Google Shape;249;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0" name="Google Shape;250;p3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1" name="Google Shape;251;p3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Shape 252"/>
        <p:cNvGrpSpPr/>
        <p:nvPr/>
      </p:nvGrpSpPr>
      <p:grpSpPr>
        <a:xfrm>
          <a:off x="0" y="0"/>
          <a:ext cx="0" cy="0"/>
          <a:chOff x="0" y="0"/>
          <a:chExt cx="0" cy="0"/>
        </a:xfrm>
      </p:grpSpPr>
      <p:sp>
        <p:nvSpPr>
          <p:cNvPr id="253" name="Google Shape;253;p32"/>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4" name="Google Shape;254;p32"/>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5" name="Google Shape;255;p32"/>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6" name="Google Shape;256;p32"/>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7" name="Google Shape;257;p32"/>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58" name="Google Shape;258;p32"/>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9" name="Google Shape;259;p32"/>
          <p:cNvSpPr txBox="1">
            <a:spLocks noGrp="1"/>
          </p:cNvSpPr>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0" name="Google Shape;260;p32"/>
          <p:cNvSpPr txBox="1">
            <a:spLocks noGrp="1"/>
          </p:cNvSpPr>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1" name="Google Shape;261;p32"/>
          <p:cNvSpPr txBox="1">
            <a:spLocks noGrp="1"/>
          </p:cNvSpPr>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2" name="Google Shape;262;p32"/>
          <p:cNvSpPr txBox="1">
            <a:spLocks noGrp="1"/>
          </p:cNvSpPr>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3" name="Google Shape;263;p32"/>
          <p:cNvSpPr txBox="1">
            <a:spLocks noGrp="1"/>
          </p:cNvSpPr>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4" name="Google Shape;264;p32"/>
          <p:cNvSpPr txBox="1">
            <a:spLocks noGrp="1"/>
          </p:cNvSpPr>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5" name="Google Shape;265;p32"/>
          <p:cNvSpPr txBox="1">
            <a:spLocks noGrp="1"/>
          </p:cNvSpPr>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66" name="Google Shape;266;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67" name="Google Shape;267;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Shape 268"/>
        <p:cNvGrpSpPr/>
        <p:nvPr/>
      </p:nvGrpSpPr>
      <p:grpSpPr>
        <a:xfrm>
          <a:off x="0" y="0"/>
          <a:ext cx="0" cy="0"/>
          <a:chOff x="0" y="0"/>
          <a:chExt cx="0" cy="0"/>
        </a:xfrm>
      </p:grpSpPr>
      <p:sp>
        <p:nvSpPr>
          <p:cNvPr id="269" name="Google Shape;269;p33"/>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33"/>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2" name="Google Shape;272;p33"/>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33"/>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4" name="Google Shape;274;p33"/>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33"/>
          <p:cNvSpPr txBox="1">
            <a:spLocks noGrp="1"/>
          </p:cNvSpPr>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3"/>
          <p:cNvSpPr txBox="1">
            <a:spLocks noGrp="1"/>
          </p:cNvSpPr>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7" name="Google Shape;277;p33"/>
          <p:cNvSpPr txBox="1">
            <a:spLocks noGrp="1"/>
          </p:cNvSpPr>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3"/>
          <p:cNvSpPr txBox="1">
            <a:spLocks noGrp="1"/>
          </p:cNvSpPr>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9" name="Google Shape;279;p33"/>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0" name="Google Shape;280;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1" name="Google Shape;281;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2" name="Google Shape;282;p3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3" name="Google Shape;283;p3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286" name="Google Shape;286;p3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7" name="Google Shape;287;p3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8" name="Google Shape;288;p3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9" name="Google Shape;289;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0" name="Google Shape;290;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1" name="Google Shape;291;p3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Shape 292"/>
        <p:cNvGrpSpPr/>
        <p:nvPr/>
      </p:nvGrpSpPr>
      <p:grpSpPr>
        <a:xfrm>
          <a:off x="0" y="0"/>
          <a:ext cx="0" cy="0"/>
          <a:chOff x="0" y="0"/>
          <a:chExt cx="0" cy="0"/>
        </a:xfrm>
      </p:grpSpPr>
      <p:sp>
        <p:nvSpPr>
          <p:cNvPr id="293" name="Google Shape;293;p35"/>
          <p:cNvSpPr txBox="1">
            <a:spLocks noGrp="1"/>
          </p:cNvSpPr>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4" name="Google Shape;294;p35"/>
          <p:cNvSpPr txBox="1">
            <a:spLocks noGrp="1"/>
          </p:cNvSpPr>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5" name="Google Shape;295;p35"/>
          <p:cNvSpPr txBox="1">
            <a:spLocks noGrp="1"/>
          </p:cNvSpPr>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6" name="Google Shape;296;p35"/>
          <p:cNvSpPr txBox="1">
            <a:spLocks noGrp="1"/>
          </p:cNvSpPr>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7" name="Google Shape;297;p35"/>
          <p:cNvSpPr txBox="1">
            <a:spLocks noGrp="1"/>
          </p:cNvSpPr>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98" name="Google Shape;298;p35"/>
          <p:cNvSpPr txBox="1">
            <a:spLocks noGrp="1"/>
          </p:cNvSpPr>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99" name="Google Shape;299;p35"/>
          <p:cNvSpPr txBox="1">
            <a:spLocks noGrp="1"/>
          </p:cNvSpPr>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0" name="Google Shape;300;p35"/>
          <p:cNvSpPr txBox="1">
            <a:spLocks noGrp="1"/>
          </p:cNvSpPr>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35"/>
          <p:cNvSpPr txBox="1">
            <a:spLocks noGrp="1"/>
          </p:cNvSpPr>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02" name="Google Shape;302;p3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03" name="Google Shape;303;p3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Shape 304"/>
        <p:cNvGrpSpPr/>
        <p:nvPr/>
      </p:nvGrpSpPr>
      <p:grpSpPr>
        <a:xfrm>
          <a:off x="0" y="0"/>
          <a:ext cx="0" cy="0"/>
          <a:chOff x="0" y="0"/>
          <a:chExt cx="0" cy="0"/>
        </a:xfrm>
      </p:grpSpPr>
      <p:sp>
        <p:nvSpPr>
          <p:cNvPr id="305" name="Google Shape;305;p36"/>
          <p:cNvSpPr txBox="1">
            <a:spLocks noGrp="1"/>
          </p:cNvSpPr>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6" name="Google Shape;306;p36"/>
          <p:cNvSpPr txBox="1">
            <a:spLocks noGrp="1"/>
          </p:cNvSpPr>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7" name="Google Shape;307;p36"/>
          <p:cNvSpPr txBox="1">
            <a:spLocks noGrp="1"/>
          </p:cNvSpPr>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8" name="Google Shape;308;p36"/>
          <p:cNvSpPr txBox="1">
            <a:spLocks noGrp="1"/>
          </p:cNvSpPr>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9" name="Google Shape;309;p36"/>
          <p:cNvSpPr txBox="1">
            <a:spLocks noGrp="1"/>
          </p:cNvSpPr>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0" name="Google Shape;310;p36"/>
          <p:cNvSpPr txBox="1">
            <a:spLocks noGrp="1"/>
          </p:cNvSpPr>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1" name="Google Shape;311;p36"/>
          <p:cNvSpPr txBox="1">
            <a:spLocks noGrp="1"/>
          </p:cNvSpPr>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12" name="Google Shape;312;p3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3" name="Google Shape;313;p3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4" name="Google Shape;314;p36"/>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7" name="Google Shape;317;p3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8" name="Google Shape;318;p3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19" name="Google Shape;319;p3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0" name="Google Shape;320;p3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1" name="Google Shape;321;p3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22" name="Google Shape;322;p37"/>
          <p:cNvSpPr txBox="1">
            <a:spLocks noGrp="1"/>
          </p:cNvSpPr>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3" name="Google Shape;323;p37"/>
          <p:cNvSpPr txBox="1">
            <a:spLocks noGrp="1"/>
          </p:cNvSpPr>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4" name="Google Shape;324;p37"/>
          <p:cNvSpPr txBox="1">
            <a:spLocks noGrp="1"/>
          </p:cNvSpPr>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5" name="Google Shape;325;p37"/>
          <p:cNvSpPr txBox="1">
            <a:spLocks noGrp="1"/>
          </p:cNvSpPr>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6" name="Google Shape;326;p37"/>
          <p:cNvSpPr txBox="1">
            <a:spLocks noGrp="1"/>
          </p:cNvSpPr>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7" name="Google Shape;327;p37"/>
          <p:cNvSpPr txBox="1">
            <a:spLocks noGrp="1"/>
          </p:cNvSpPr>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28" name="Google Shape;328;p37"/>
          <p:cNvSpPr txBox="1">
            <a:spLocks noGrp="1"/>
          </p:cNvSpPr>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9" name="Google Shape;329;p37"/>
          <p:cNvSpPr txBox="1">
            <a:spLocks noGrp="1"/>
          </p:cNvSpPr>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0" name="Google Shape;330;p37"/>
          <p:cNvSpPr txBox="1">
            <a:spLocks noGrp="1"/>
          </p:cNvSpPr>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1" name="Google Shape;331;p37"/>
          <p:cNvSpPr txBox="1">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Shape 335"/>
        <p:cNvGrpSpPr/>
        <p:nvPr/>
      </p:nvGrpSpPr>
      <p:grpSpPr>
        <a:xfrm>
          <a:off x="0" y="0"/>
          <a:ext cx="0" cy="0"/>
          <a:chOff x="0" y="0"/>
          <a:chExt cx="0" cy="0"/>
        </a:xfrm>
      </p:grpSpPr>
      <p:sp>
        <p:nvSpPr>
          <p:cNvPr id="336" name="Google Shape;336;p38"/>
          <p:cNvSpPr txBox="1">
            <a:spLocks noGrp="1"/>
          </p:cNvSpPr>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7" name="Google Shape;337;p38"/>
          <p:cNvSpPr txBox="1">
            <a:spLocks noGrp="1"/>
          </p:cNvSpPr>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38" name="Google Shape;338;p38"/>
          <p:cNvSpPr txBox="1">
            <a:spLocks noGrp="1"/>
          </p:cNvSpPr>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39" name="Google Shape;339;p38"/>
          <p:cNvSpPr txBox="1">
            <a:spLocks noGrp="1"/>
          </p:cNvSpPr>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0" name="Google Shape;340;p38"/>
          <p:cNvSpPr txBox="1">
            <a:spLocks noGrp="1"/>
          </p:cNvSpPr>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1" name="Google Shape;341;p38"/>
          <p:cNvSpPr txBox="1">
            <a:spLocks noGrp="1"/>
          </p:cNvSpPr>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2" name="Google Shape;342;p38"/>
          <p:cNvSpPr txBox="1">
            <a:spLocks noGrp="1"/>
          </p:cNvSpPr>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43" name="Google Shape;343;p3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44" name="Google Shape;344;p3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345"/>
        <p:cNvGrpSpPr/>
        <p:nvPr/>
      </p:nvGrpSpPr>
      <p:grpSpPr>
        <a:xfrm>
          <a:off x="0" y="0"/>
          <a:ext cx="0" cy="0"/>
          <a:chOff x="0" y="0"/>
          <a:chExt cx="0" cy="0"/>
        </a:xfrm>
      </p:grpSpPr>
      <p:sp>
        <p:nvSpPr>
          <p:cNvPr id="346" name="Google Shape;346;p39"/>
          <p:cNvSpPr txBox="1">
            <a:spLocks noGrp="1"/>
          </p:cNvSpPr>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7" name="Google Shape;347;p39"/>
          <p:cNvSpPr txBox="1">
            <a:spLocks noGrp="1"/>
          </p:cNvSpPr>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48" name="Google Shape;348;p39"/>
          <p:cNvSpPr txBox="1">
            <a:spLocks noGrp="1"/>
          </p:cNvSpPr>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9" name="Google Shape;349;p39"/>
          <p:cNvSpPr txBox="1">
            <a:spLocks noGrp="1"/>
          </p:cNvSpPr>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0" name="Google Shape;350;p39"/>
          <p:cNvSpPr txBox="1">
            <a:spLocks noGrp="1"/>
          </p:cNvSpPr>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1" name="Google Shape;351;p39"/>
          <p:cNvSpPr txBox="1">
            <a:spLocks noGrp="1"/>
          </p:cNvSpPr>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2" name="Google Shape;352;p39"/>
          <p:cNvSpPr txBox="1">
            <a:spLocks noGrp="1"/>
          </p:cNvSpPr>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3" name="Google Shape;353;p39"/>
          <p:cNvSpPr txBox="1">
            <a:spLocks noGrp="1"/>
          </p:cNvSpPr>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4" name="Google Shape;354;p39"/>
          <p:cNvSpPr txBox="1">
            <a:spLocks noGrp="1"/>
          </p:cNvSpPr>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55" name="Google Shape;355;p3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6" name="Google Shape;356;p3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9" name="Google Shape;359;p4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0" name="Google Shape;360;p4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1" name="Google Shape;361;p4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2" name="Google Shape;362;p4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3" name="Google Shape;363;p4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64" name="Google Shape;364;p40"/>
          <p:cNvSpPr txBox="1">
            <a:spLocks noGrp="1"/>
          </p:cNvSpPr>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5" name="Google Shape;365;p40"/>
          <p:cNvSpPr txBox="1">
            <a:spLocks noGrp="1"/>
          </p:cNvSpPr>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6" name="Google Shape;366;p40"/>
          <p:cNvSpPr txBox="1">
            <a:spLocks noGrp="1"/>
          </p:cNvSpPr>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67" name="Google Shape;367;p40"/>
          <p:cNvSpPr txBox="1">
            <a:spLocks noGrp="1"/>
          </p:cNvSpPr>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8" name="Google Shape;368;p40"/>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369" name="Google Shape;369;p40"/>
          <p:cNvSpPr txBox="1">
            <a:spLocks noGrp="1"/>
          </p:cNvSpPr>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0" name="Google Shape;370;p40"/>
          <p:cNvSpPr txBox="1">
            <a:spLocks noGrp="1"/>
          </p:cNvSpPr>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Shape 371"/>
        <p:cNvGrpSpPr/>
        <p:nvPr/>
      </p:nvGrpSpPr>
      <p:grpSpPr>
        <a:xfrm>
          <a:off x="0" y="0"/>
          <a:ext cx="0" cy="0"/>
          <a:chOff x="0" y="0"/>
          <a:chExt cx="0" cy="0"/>
        </a:xfrm>
      </p:grpSpPr>
      <p:sp>
        <p:nvSpPr>
          <p:cNvPr id="372" name="Google Shape;372;p41"/>
          <p:cNvSpPr txBox="1">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a:spLocks noGrp="1"/>
          </p:cNvSpPr>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4" name="Google Shape;374;p41"/>
          <p:cNvSpPr txBox="1">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a:spLocks noGrp="1"/>
          </p:cNvSpPr>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6" name="Google Shape;376;p41"/>
          <p:cNvSpPr txBox="1">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a:spLocks noGrp="1"/>
          </p:cNvSpPr>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78" name="Google Shape;378;p4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9" name="Google Shape;379;p4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Shape 380"/>
        <p:cNvGrpSpPr/>
        <p:nvPr/>
      </p:nvGrpSpPr>
      <p:grpSpPr>
        <a:xfrm>
          <a:off x="0" y="0"/>
          <a:ext cx="0" cy="0"/>
          <a:chOff x="0" y="0"/>
          <a:chExt cx="0" cy="0"/>
        </a:xfrm>
      </p:grpSpPr>
      <p:sp>
        <p:nvSpPr>
          <p:cNvPr id="381" name="Google Shape;381;p42"/>
          <p:cNvSpPr txBox="1">
            <a:spLocks noGrp="1"/>
          </p:cNvSpPr>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2" name="Google Shape;382;p42"/>
          <p:cNvSpPr txBox="1">
            <a:spLocks noGrp="1"/>
          </p:cNvSpPr>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3" name="Google Shape;383;p42"/>
          <p:cNvSpPr txBox="1">
            <a:spLocks noGrp="1"/>
          </p:cNvSpPr>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4" name="Google Shape;384;p42"/>
          <p:cNvSpPr txBox="1">
            <a:spLocks noGrp="1"/>
          </p:cNvSpPr>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5" name="Google Shape;385;p42"/>
          <p:cNvSpPr txBox="1">
            <a:spLocks noGrp="1"/>
          </p:cNvSpPr>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6" name="Google Shape;386;p42"/>
          <p:cNvSpPr txBox="1">
            <a:spLocks noGrp="1"/>
          </p:cNvSpPr>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87" name="Google Shape;387;p4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8" name="Google Shape;388;p4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9" name="Google Shape;389;p4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0" name="Google Shape;390;p4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1" name="Google Shape;391;p4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92" name="Google Shape;392;p42"/>
          <p:cNvSpPr txBox="1">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Shape 400"/>
        <p:cNvGrpSpPr/>
        <p:nvPr/>
      </p:nvGrpSpPr>
      <p:grpSpPr>
        <a:xfrm>
          <a:off x="0" y="0"/>
          <a:ext cx="0" cy="0"/>
          <a:chOff x="0" y="0"/>
          <a:chExt cx="0" cy="0"/>
        </a:xfrm>
      </p:grpSpPr>
      <p:sp>
        <p:nvSpPr>
          <p:cNvPr id="401" name="Google Shape;401;p44"/>
          <p:cNvSpPr txBox="1">
            <a:spLocks noGrp="1"/>
          </p:cNvSpPr>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402" name="Google Shape;402;p44"/>
          <p:cNvSpPr txBox="1">
            <a:spLocks noGrp="1"/>
          </p:cNvSpPr>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a:endParaRPr/>
          </a:p>
        </p:txBody>
      </p:sp>
      <p:cxnSp>
        <p:nvCxnSpPr>
          <p:cNvPr id="403" name="Google Shape;403;p4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4" name="Google Shape;404;p4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05"/>
        <p:cNvGrpSpPr/>
        <p:nvPr/>
      </p:nvGrpSpPr>
      <p:grpSpPr>
        <a:xfrm>
          <a:off x="0" y="0"/>
          <a:ext cx="0" cy="0"/>
          <a:chOff x="0" y="0"/>
          <a:chExt cx="0" cy="0"/>
        </a:xfrm>
      </p:grpSpPr>
      <p:sp>
        <p:nvSpPr>
          <p:cNvPr id="406" name="Google Shape;406;p45"/>
          <p:cNvSpPr txBox="1">
            <a:spLocks noGrp="1"/>
          </p:cNvSpPr>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07" name="Google Shape;407;p45"/>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08" name="Google Shape;408;p4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9" name="Google Shape;409;p4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0" name="Google Shape;410;p45"/>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3" name="Google Shape;413;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4" name="Google Shape;414;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5" name="Google Shape;415;p4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6" name="Google Shape;416;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7" name="Google Shape;417;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18" name="Google Shape;418;p46"/>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19" name="Google Shape;419;p46"/>
          <p:cNvSpPr txBox="1">
            <a:spLocks noGrp="1"/>
          </p:cNvSpPr>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20" name="Google Shape;420;p46"/>
          <p:cNvSpPr txBox="1">
            <a:spLocks noGrp="1"/>
          </p:cNvSpPr>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Shape 421"/>
        <p:cNvGrpSpPr/>
        <p:nvPr/>
      </p:nvGrpSpPr>
      <p:grpSpPr>
        <a:xfrm>
          <a:off x="0" y="0"/>
          <a:ext cx="0" cy="0"/>
          <a:chOff x="0" y="0"/>
          <a:chExt cx="0" cy="0"/>
        </a:xfrm>
      </p:grpSpPr>
      <p:sp>
        <p:nvSpPr>
          <p:cNvPr id="422" name="Google Shape;422;p47"/>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3" name="Google Shape;423;p47"/>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4" name="Google Shape;424;p47"/>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5" name="Google Shape;425;p47"/>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6" name="Google Shape;426;p47"/>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27" name="Google Shape;427;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8" name="Google Shape;428;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Shape 429"/>
        <p:cNvGrpSpPr/>
        <p:nvPr/>
      </p:nvGrpSpPr>
      <p:grpSpPr>
        <a:xfrm>
          <a:off x="0" y="0"/>
          <a:ext cx="0" cy="0"/>
          <a:chOff x="0" y="0"/>
          <a:chExt cx="0" cy="0"/>
        </a:xfrm>
      </p:grpSpPr>
      <p:sp>
        <p:nvSpPr>
          <p:cNvPr id="430" name="Google Shape;430;p48"/>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31" name="Google Shape;431;p48"/>
          <p:cNvSpPr txBox="1">
            <a:spLocks noGrp="1"/>
          </p:cNvSpPr>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2" name="Google Shape;432;p48"/>
          <p:cNvSpPr txBox="1">
            <a:spLocks noGrp="1"/>
          </p:cNvSpPr>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3" name="Google Shape;433;p48"/>
          <p:cNvSpPr txBox="1">
            <a:spLocks noGrp="1"/>
          </p:cNvSpPr>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4" name="Google Shape;434;p48"/>
          <p:cNvSpPr txBox="1">
            <a:spLocks noGrp="1"/>
          </p:cNvSpPr>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5" name="Google Shape;435;p48"/>
          <p:cNvSpPr txBox="1">
            <a:spLocks noGrp="1"/>
          </p:cNvSpPr>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6" name="Google Shape;436;p48"/>
          <p:cNvSpPr txBox="1">
            <a:spLocks noGrp="1"/>
          </p:cNvSpPr>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437" name="Google Shape;437;p4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8" name="Google Shape;438;p4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9" name="Google Shape;439;p4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0" name="Google Shape;440;p4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71"/>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75"/>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476"/>
        <p:cNvGrpSpPr/>
        <p:nvPr/>
      </p:nvGrpSpPr>
      <p:grpSpPr>
        <a:xfrm>
          <a:off x="0" y="0"/>
          <a:ext cx="0" cy="0"/>
          <a:chOff x="0" y="0"/>
          <a:chExt cx="0" cy="0"/>
        </a:xfrm>
      </p:grpSpPr>
      <p:sp>
        <p:nvSpPr>
          <p:cNvPr id="477" name="Google Shape;477;p58"/>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5.xml"/><Relationship Id="rId1"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68"/>
        <p:cNvGrpSpPr/>
        <p:nvPr/>
      </p:nvGrpSpPr>
      <p:grpSpPr>
        <a:xfrm>
          <a:off x="0" y="0"/>
          <a:ext cx="0" cy="0"/>
          <a:chOff x="0" y="0"/>
          <a:chExt cx="0" cy="0"/>
        </a:xfrm>
      </p:grpSpPr>
      <p:sp>
        <p:nvSpPr>
          <p:cNvPr id="469" name="Google Shape;469;p5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0" name="Google Shape;470;p5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72"/>
        <p:cNvGrpSpPr/>
        <p:nvPr/>
      </p:nvGrpSpPr>
      <p:grpSpPr>
        <a:xfrm>
          <a:off x="0" y="0"/>
          <a:ext cx="0" cy="0"/>
          <a:chOff x="0" y="0"/>
          <a:chExt cx="0" cy="0"/>
        </a:xfrm>
      </p:grpSpPr>
      <p:sp>
        <p:nvSpPr>
          <p:cNvPr id="473" name="Google Shape;473;p5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4" name="Google Shape;474;p5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3600" dirty="0"/>
              <a:t>Secure Text and Voice Chat Implementation UsingRING- LWE and ChaCha20 Cryptography</a:t>
            </a:r>
            <a:endParaRPr sz="3600" dirty="0"/>
          </a:p>
        </p:txBody>
      </p:sp>
      <p:sp>
        <p:nvSpPr>
          <p:cNvPr id="483" name="Google Shape;483;p59"/>
          <p:cNvSpPr txBox="1">
            <a:spLocks noGrp="1"/>
          </p:cNvSpPr>
          <p:nvPr>
            <p:ph type="subTitle" idx="1"/>
          </p:nvPr>
        </p:nvSpPr>
        <p:spPr>
          <a:xfrm>
            <a:off x="2079901" y="3300900"/>
            <a:ext cx="5315982" cy="857727"/>
          </a:xfrm>
          <a:prstGeom prst="rect">
            <a:avLst/>
          </a:prstGeom>
        </p:spPr>
        <p:txBody>
          <a:bodyPr spcFirstLastPara="1" wrap="square" lIns="91425" tIns="91425" rIns="91425" bIns="91425" anchor="t" anchorCtr="0">
            <a:noAutofit/>
          </a:bodyPr>
          <a:lstStyle/>
          <a:p>
            <a:pPr marL="1828800" lvl="4" indent="0" algn="r">
              <a:buClr>
                <a:schemeClr val="dk1"/>
              </a:buClr>
              <a:buSzPts val="1100"/>
            </a:pPr>
            <a:r>
              <a:rPr lang="en-IN" sz="1900" b="1" dirty="0" err="1">
                <a:solidFill>
                  <a:schemeClr val="dk1"/>
                </a:solidFill>
                <a:latin typeface="+mj-lt"/>
              </a:rPr>
              <a:t>Rubesh</a:t>
            </a:r>
            <a:r>
              <a:rPr lang="en-IN" sz="1900" b="1" dirty="0">
                <a:solidFill>
                  <a:schemeClr val="dk1"/>
                </a:solidFill>
                <a:latin typeface="+mj-lt"/>
              </a:rPr>
              <a:t> VC - 2021506075</a:t>
            </a:r>
          </a:p>
          <a:p>
            <a:pPr marL="1828800" lvl="4" indent="0" algn="r">
              <a:buClr>
                <a:schemeClr val="dk1"/>
              </a:buClr>
              <a:buSzPts val="1100"/>
            </a:pPr>
            <a:r>
              <a:rPr lang="en-IN" sz="1900" b="1" dirty="0">
                <a:solidFill>
                  <a:schemeClr val="dk1"/>
                </a:solidFill>
                <a:latin typeface="+mj-lt"/>
              </a:rPr>
              <a:t>Shyaam S - 2021506099</a:t>
            </a:r>
            <a:endParaRPr sz="1900" b="1"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39DD-2CEF-5D91-0A20-1C3D0E56E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E23B9-2B8E-DE4F-A571-288FD77D66FA}"/>
              </a:ext>
            </a:extLst>
          </p:cNvPr>
          <p:cNvSpPr>
            <a:spLocks noGrp="1"/>
          </p:cNvSpPr>
          <p:nvPr>
            <p:ph type="title"/>
          </p:nvPr>
        </p:nvSpPr>
        <p:spPr>
          <a:xfrm>
            <a:off x="934060" y="515818"/>
            <a:ext cx="6827190" cy="636476"/>
          </a:xfrm>
        </p:spPr>
        <p:txBody>
          <a:bodyPr/>
          <a:lstStyle/>
          <a:p>
            <a:r>
              <a:rPr lang="en" sz="4000" dirty="0"/>
              <a:t>Introduction</a:t>
            </a:r>
            <a:endParaRPr lang="en-US" sz="4000" dirty="0"/>
          </a:p>
        </p:txBody>
      </p:sp>
      <p:sp>
        <p:nvSpPr>
          <p:cNvPr id="8" name="TextBox 7">
            <a:extLst>
              <a:ext uri="{FF2B5EF4-FFF2-40B4-BE49-F238E27FC236}">
                <a16:creationId xmlns:a16="http://schemas.microsoft.com/office/drawing/2014/main" id="{D65C21A4-A088-EB7A-1069-970D7AB91B81}"/>
              </a:ext>
            </a:extLst>
          </p:cNvPr>
          <p:cNvSpPr txBox="1"/>
          <p:nvPr/>
        </p:nvSpPr>
        <p:spPr>
          <a:xfrm rot="10800000" flipV="1">
            <a:off x="934060" y="1630170"/>
            <a:ext cx="7265728" cy="1200329"/>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rPr>
              <a:t>Lattice based cryptography like Ring Learning with Errors (RING -LWE) with ChaCha20 is used to ensure strong security against classical and quantum attacks, so that we can ensure a secure data transmission in a Secure Text and video chat application. </a:t>
            </a:r>
            <a:endParaRPr lang="en-US" dirty="0"/>
          </a:p>
        </p:txBody>
      </p:sp>
      <p:sp>
        <p:nvSpPr>
          <p:cNvPr id="3" name="TextBox 2">
            <a:extLst>
              <a:ext uri="{FF2B5EF4-FFF2-40B4-BE49-F238E27FC236}">
                <a16:creationId xmlns:a16="http://schemas.microsoft.com/office/drawing/2014/main" id="{90218CCE-CA1B-E356-C7AA-9F229434D9D5}"/>
              </a:ext>
            </a:extLst>
          </p:cNvPr>
          <p:cNvSpPr txBox="1"/>
          <p:nvPr/>
        </p:nvSpPr>
        <p:spPr>
          <a:xfrm rot="10800000" flipV="1">
            <a:off x="872229" y="3092785"/>
            <a:ext cx="7265728" cy="646331"/>
          </a:xfrm>
          <a:prstGeom prst="rect">
            <a:avLst/>
          </a:prstGeom>
          <a:noFill/>
        </p:spPr>
        <p:txBody>
          <a:bodyPr wrap="square" rtlCol="0">
            <a:spAutoFit/>
          </a:bodyPr>
          <a:lstStyle/>
          <a:p>
            <a:pPr algn="l"/>
            <a:r>
              <a:rPr lang="en-US" sz="1800" dirty="0">
                <a:effectLst/>
                <a:latin typeface="Times New Roman" panose="02020603050405020304" pitchFamily="18" charset="0"/>
                <a:ea typeface="SimSun" panose="02010600030101010101" pitchFamily="2" charset="-122"/>
              </a:rPr>
              <a:t>Unlike pre existing encryption methodologies on texting app security, a new approach of encryption and decryption is followed in this project</a:t>
            </a:r>
            <a:endParaRPr lang="en-US" dirty="0"/>
          </a:p>
        </p:txBody>
      </p:sp>
    </p:spTree>
    <p:extLst>
      <p:ext uri="{BB962C8B-B14F-4D97-AF65-F5344CB8AC3E}">
        <p14:creationId xmlns:p14="http://schemas.microsoft.com/office/powerpoint/2010/main" val="53546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04D4B-4DE4-0BBE-54F8-557B0183A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1323B-8413-C842-05A8-DAB3232D8C1A}"/>
              </a:ext>
            </a:extLst>
          </p:cNvPr>
          <p:cNvSpPr>
            <a:spLocks noGrp="1"/>
          </p:cNvSpPr>
          <p:nvPr>
            <p:ph type="title"/>
          </p:nvPr>
        </p:nvSpPr>
        <p:spPr>
          <a:xfrm>
            <a:off x="934060" y="515818"/>
            <a:ext cx="6827190" cy="636476"/>
          </a:xfrm>
        </p:spPr>
        <p:txBody>
          <a:bodyPr/>
          <a:lstStyle/>
          <a:p>
            <a:r>
              <a:rPr lang="en-US" sz="4000" dirty="0"/>
              <a:t> </a:t>
            </a:r>
          </a:p>
        </p:txBody>
      </p:sp>
      <p:sp>
        <p:nvSpPr>
          <p:cNvPr id="8" name="TextBox 7">
            <a:extLst>
              <a:ext uri="{FF2B5EF4-FFF2-40B4-BE49-F238E27FC236}">
                <a16:creationId xmlns:a16="http://schemas.microsoft.com/office/drawing/2014/main" id="{35301A14-3738-4F2F-D975-B7ADAB4150C5}"/>
              </a:ext>
            </a:extLst>
          </p:cNvPr>
          <p:cNvSpPr txBox="1"/>
          <p:nvPr/>
        </p:nvSpPr>
        <p:spPr>
          <a:xfrm rot="10800000" flipV="1">
            <a:off x="934060" y="2519893"/>
            <a:ext cx="7265728" cy="461665"/>
          </a:xfrm>
          <a:prstGeom prst="rect">
            <a:avLst/>
          </a:prstGeom>
          <a:noFill/>
        </p:spPr>
        <p:txBody>
          <a:bodyPr wrap="square" rtlCol="0">
            <a:spAutoFit/>
          </a:bodyPr>
          <a:lstStyle/>
          <a:p>
            <a:pPr algn="l"/>
            <a:r>
              <a:rPr lang="en-US" sz="2400" dirty="0">
                <a:latin typeface="Times New Roman" panose="02020603050405020304" pitchFamily="18" charset="0"/>
                <a:ea typeface="SimSun" panose="02010600030101010101" pitchFamily="2" charset="-122"/>
              </a:rPr>
              <a:t>2</a:t>
            </a:r>
            <a:r>
              <a:rPr lang="en-US" sz="2400" dirty="0">
                <a:effectLst/>
                <a:latin typeface="Times New Roman" panose="02020603050405020304" pitchFamily="18" charset="0"/>
                <a:ea typeface="SimSun" panose="02010600030101010101" pitchFamily="2" charset="-122"/>
              </a:rPr>
              <a:t>. To encrypt and decrypt text message </a:t>
            </a:r>
            <a:endParaRPr lang="en-US" sz="1800" dirty="0"/>
          </a:p>
        </p:txBody>
      </p:sp>
      <p:sp>
        <p:nvSpPr>
          <p:cNvPr id="3" name="TextBox 2">
            <a:extLst>
              <a:ext uri="{FF2B5EF4-FFF2-40B4-BE49-F238E27FC236}">
                <a16:creationId xmlns:a16="http://schemas.microsoft.com/office/drawing/2014/main" id="{7379994B-BE4D-C34D-D50C-6AF851068B15}"/>
              </a:ext>
            </a:extLst>
          </p:cNvPr>
          <p:cNvSpPr txBox="1"/>
          <p:nvPr/>
        </p:nvSpPr>
        <p:spPr>
          <a:xfrm rot="10800000" flipV="1">
            <a:off x="934060" y="3045975"/>
            <a:ext cx="7265728" cy="461665"/>
          </a:xfrm>
          <a:prstGeom prst="rect">
            <a:avLst/>
          </a:prstGeom>
          <a:noFill/>
        </p:spPr>
        <p:txBody>
          <a:bodyPr wrap="square" rtlCol="0">
            <a:spAutoFit/>
          </a:bodyPr>
          <a:lstStyle/>
          <a:p>
            <a:pPr algn="l"/>
            <a:r>
              <a:rPr lang="en-US" sz="2400" dirty="0">
                <a:latin typeface="Times New Roman" panose="02020603050405020304" pitchFamily="18" charset="0"/>
                <a:ea typeface="SimSun" panose="02010600030101010101" pitchFamily="2" charset="-122"/>
              </a:rPr>
              <a:t>3</a:t>
            </a:r>
            <a:r>
              <a:rPr lang="en-US" sz="2400" dirty="0">
                <a:effectLst/>
                <a:latin typeface="Times New Roman" panose="02020603050405020304" pitchFamily="18" charset="0"/>
                <a:ea typeface="SimSun" panose="02010600030101010101" pitchFamily="2" charset="-122"/>
              </a:rPr>
              <a:t>. </a:t>
            </a:r>
            <a:r>
              <a:rPr lang="en-US" sz="2400" dirty="0">
                <a:latin typeface="Times New Roman" panose="02020603050405020304" pitchFamily="18" charset="0"/>
                <a:ea typeface="SimSun" panose="02010600030101010101" pitchFamily="2" charset="-122"/>
              </a:rPr>
              <a:t>To encrypt and decrypt voice message</a:t>
            </a:r>
            <a:endParaRPr lang="en-US" sz="1800" dirty="0"/>
          </a:p>
        </p:txBody>
      </p:sp>
      <p:sp>
        <p:nvSpPr>
          <p:cNvPr id="4" name="Google Shape;342;p46">
            <a:extLst>
              <a:ext uri="{FF2B5EF4-FFF2-40B4-BE49-F238E27FC236}">
                <a16:creationId xmlns:a16="http://schemas.microsoft.com/office/drawing/2014/main" id="{E7E137E3-ED82-C367-78BD-F6DD1B2CDD3A}"/>
              </a:ext>
            </a:extLst>
          </p:cNvPr>
          <p:cNvSpPr txBox="1">
            <a:spLocks/>
          </p:cNvSpPr>
          <p:nvPr/>
        </p:nvSpPr>
        <p:spPr>
          <a:xfrm>
            <a:off x="2143050" y="629150"/>
            <a:ext cx="4857900" cy="80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4"/>
              </a:buClr>
              <a:buSzPts val="3600"/>
              <a:buFont typeface="Vidaloka"/>
              <a:buNone/>
              <a:defRPr sz="5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9pPr>
          </a:lstStyle>
          <a:p>
            <a:pPr algn="ctr"/>
            <a:r>
              <a:rPr lang="en-IN" dirty="0"/>
              <a:t>Objective</a:t>
            </a:r>
          </a:p>
        </p:txBody>
      </p:sp>
      <p:sp>
        <p:nvSpPr>
          <p:cNvPr id="6" name="TextBox 5">
            <a:extLst>
              <a:ext uri="{FF2B5EF4-FFF2-40B4-BE49-F238E27FC236}">
                <a16:creationId xmlns:a16="http://schemas.microsoft.com/office/drawing/2014/main" id="{4543607D-C268-0A2C-44B5-6FDB93AE55D0}"/>
              </a:ext>
            </a:extLst>
          </p:cNvPr>
          <p:cNvSpPr txBox="1"/>
          <p:nvPr/>
        </p:nvSpPr>
        <p:spPr>
          <a:xfrm rot="10800000" flipV="1">
            <a:off x="934060" y="2027168"/>
            <a:ext cx="7265728" cy="461665"/>
          </a:xfrm>
          <a:prstGeom prst="rect">
            <a:avLst/>
          </a:prstGeom>
          <a:noFill/>
        </p:spPr>
        <p:txBody>
          <a:bodyPr wrap="square" rtlCol="0">
            <a:spAutoFit/>
          </a:bodyPr>
          <a:lstStyle/>
          <a:p>
            <a:pPr algn="l"/>
            <a:r>
              <a:rPr lang="en-US" sz="2400" dirty="0">
                <a:effectLst/>
                <a:latin typeface="Times New Roman" panose="02020603050405020304" pitchFamily="18" charset="0"/>
                <a:ea typeface="SimSun" panose="02010600030101010101" pitchFamily="2" charset="-122"/>
              </a:rPr>
              <a:t>1. To Generate key using Ring LWE cryptography</a:t>
            </a:r>
            <a:endParaRPr lang="en-US" sz="1800" dirty="0"/>
          </a:p>
        </p:txBody>
      </p:sp>
    </p:spTree>
    <p:extLst>
      <p:ext uri="{BB962C8B-B14F-4D97-AF65-F5344CB8AC3E}">
        <p14:creationId xmlns:p14="http://schemas.microsoft.com/office/powerpoint/2010/main" val="3232624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6169-C02E-328C-8638-97FB1E379481}"/>
              </a:ext>
            </a:extLst>
          </p:cNvPr>
          <p:cNvSpPr>
            <a:spLocks noGrp="1"/>
          </p:cNvSpPr>
          <p:nvPr>
            <p:ph type="title"/>
          </p:nvPr>
        </p:nvSpPr>
        <p:spPr/>
        <p:txBody>
          <a:bodyPr/>
          <a:lstStyle/>
          <a:p>
            <a:r>
              <a:rPr lang="en-US" sz="3200" dirty="0"/>
              <a:t>BLOCK DIAGRAM – KEY GENERATION and encryption</a:t>
            </a:r>
          </a:p>
        </p:txBody>
      </p:sp>
      <p:sp>
        <p:nvSpPr>
          <p:cNvPr id="3" name="Title 2">
            <a:extLst>
              <a:ext uri="{FF2B5EF4-FFF2-40B4-BE49-F238E27FC236}">
                <a16:creationId xmlns:a16="http://schemas.microsoft.com/office/drawing/2014/main" id="{66F4CF24-4CD3-B6AD-C9C5-8821E2736C17}"/>
              </a:ext>
            </a:extLst>
          </p:cNvPr>
          <p:cNvSpPr>
            <a:spLocks noGrp="1"/>
          </p:cNvSpPr>
          <p:nvPr>
            <p:ph type="title" idx="4294967295"/>
          </p:nvPr>
        </p:nvSpPr>
        <p:spPr>
          <a:xfrm>
            <a:off x="0" y="2490788"/>
            <a:ext cx="1651000" cy="979487"/>
          </a:xfrm>
        </p:spPr>
        <p:txBody>
          <a:bodyPr/>
          <a:lstStyle/>
          <a:p>
            <a:r>
              <a:rPr lang="en-IN" dirty="0"/>
              <a:t> </a:t>
            </a:r>
            <a:endParaRPr lang="en-US" dirty="0"/>
          </a:p>
        </p:txBody>
      </p:sp>
      <p:sp>
        <p:nvSpPr>
          <p:cNvPr id="4" name="Subtitle 3">
            <a:extLst>
              <a:ext uri="{FF2B5EF4-FFF2-40B4-BE49-F238E27FC236}">
                <a16:creationId xmlns:a16="http://schemas.microsoft.com/office/drawing/2014/main" id="{F904D559-A13B-37A3-06EA-2BB445D84120}"/>
              </a:ext>
            </a:extLst>
          </p:cNvPr>
          <p:cNvSpPr>
            <a:spLocks noGrp="1"/>
          </p:cNvSpPr>
          <p:nvPr>
            <p:ph type="subTitle" idx="4294967295"/>
          </p:nvPr>
        </p:nvSpPr>
        <p:spPr>
          <a:xfrm>
            <a:off x="0" y="3076575"/>
            <a:ext cx="4562475" cy="393700"/>
          </a:xfrm>
        </p:spPr>
        <p:txBody>
          <a:bodyPr/>
          <a:lstStyle/>
          <a:p>
            <a:pPr marL="114300" indent="0">
              <a:buNone/>
            </a:pPr>
            <a:r>
              <a:rPr lang="en-US" dirty="0"/>
              <a:t> </a:t>
            </a:r>
          </a:p>
        </p:txBody>
      </p:sp>
      <p:pic>
        <p:nvPicPr>
          <p:cNvPr id="6" name="Picture 5" descr="A diagram of a computer system">
            <a:extLst>
              <a:ext uri="{FF2B5EF4-FFF2-40B4-BE49-F238E27FC236}">
                <a16:creationId xmlns:a16="http://schemas.microsoft.com/office/drawing/2014/main" id="{2A043397-C416-570E-AB20-D64588741D54}"/>
              </a:ext>
            </a:extLst>
          </p:cNvPr>
          <p:cNvPicPr>
            <a:picLocks noChangeAspect="1"/>
          </p:cNvPicPr>
          <p:nvPr/>
        </p:nvPicPr>
        <p:blipFill>
          <a:blip r:embed="rId2">
            <a:extLst>
              <a:ext uri="{BEBA8EAE-BF5A-486C-A8C5-ECC9F3942E4B}">
                <a14:imgProps xmlns:a14="http://schemas.microsoft.com/office/drawing/2010/main">
                  <a14:imgLayer r:embed="rId3">
                    <a14:imgEffect>
                      <a14:saturation sat="137000"/>
                    </a14:imgEffect>
                  </a14:imgLayer>
                </a14:imgProps>
              </a:ext>
            </a:extLst>
          </a:blip>
          <a:stretch>
            <a:fillRect/>
          </a:stretch>
        </p:blipFill>
        <p:spPr>
          <a:xfrm>
            <a:off x="1611861" y="1575575"/>
            <a:ext cx="5939331" cy="1894700"/>
          </a:xfrm>
          <a:prstGeom prst="rect">
            <a:avLst/>
          </a:prstGeom>
        </p:spPr>
      </p:pic>
    </p:spTree>
    <p:extLst>
      <p:ext uri="{BB962C8B-B14F-4D97-AF65-F5344CB8AC3E}">
        <p14:creationId xmlns:p14="http://schemas.microsoft.com/office/powerpoint/2010/main" val="349517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5EC1D-4E24-B9EA-DACB-50A855BFF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425B-9D04-9FCA-02F2-233CEE999992}"/>
              </a:ext>
            </a:extLst>
          </p:cNvPr>
          <p:cNvSpPr>
            <a:spLocks noGrp="1"/>
          </p:cNvSpPr>
          <p:nvPr>
            <p:ph type="title"/>
          </p:nvPr>
        </p:nvSpPr>
        <p:spPr>
          <a:xfrm>
            <a:off x="934060" y="515818"/>
            <a:ext cx="6827190" cy="636476"/>
          </a:xfrm>
        </p:spPr>
        <p:txBody>
          <a:bodyPr/>
          <a:lstStyle/>
          <a:p>
            <a:r>
              <a:rPr lang="en-US" sz="4000" dirty="0"/>
              <a:t> </a:t>
            </a:r>
          </a:p>
        </p:txBody>
      </p:sp>
      <p:sp>
        <p:nvSpPr>
          <p:cNvPr id="4" name="Google Shape;342;p46">
            <a:extLst>
              <a:ext uri="{FF2B5EF4-FFF2-40B4-BE49-F238E27FC236}">
                <a16:creationId xmlns:a16="http://schemas.microsoft.com/office/drawing/2014/main" id="{BBE61DCB-CD7D-9E5E-0383-8BE8E5A9575E}"/>
              </a:ext>
            </a:extLst>
          </p:cNvPr>
          <p:cNvSpPr txBox="1">
            <a:spLocks/>
          </p:cNvSpPr>
          <p:nvPr/>
        </p:nvSpPr>
        <p:spPr>
          <a:xfrm>
            <a:off x="468352" y="752094"/>
            <a:ext cx="8341112" cy="80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4"/>
              </a:buClr>
              <a:buSzPts val="3600"/>
              <a:buFont typeface="Vidaloka"/>
              <a:buNone/>
              <a:defRPr sz="5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1" u="none" strike="noStrike" cap="none">
                <a:solidFill>
                  <a:schemeClr val="dk1"/>
                </a:solidFill>
                <a:latin typeface="Arial"/>
                <a:ea typeface="Arial"/>
                <a:cs typeface="Arial"/>
                <a:sym typeface="Arial"/>
              </a:defRPr>
            </a:lvl9pPr>
          </a:lstStyle>
          <a:p>
            <a:pPr algn="ctr"/>
            <a:r>
              <a:rPr lang="en" dirty="0"/>
              <a:t>Features of hash generation</a:t>
            </a:r>
            <a:endParaRPr lang="en-IN" dirty="0"/>
          </a:p>
        </p:txBody>
      </p:sp>
      <p:sp>
        <p:nvSpPr>
          <p:cNvPr id="7" name="TextBox 6">
            <a:extLst>
              <a:ext uri="{FF2B5EF4-FFF2-40B4-BE49-F238E27FC236}">
                <a16:creationId xmlns:a16="http://schemas.microsoft.com/office/drawing/2014/main" id="{F22325A9-937D-4977-589C-1CECDC80C9E1}"/>
              </a:ext>
            </a:extLst>
          </p:cNvPr>
          <p:cNvSpPr txBox="1"/>
          <p:nvPr/>
        </p:nvSpPr>
        <p:spPr>
          <a:xfrm>
            <a:off x="2248830" y="1980005"/>
            <a:ext cx="4720682" cy="1631216"/>
          </a:xfrm>
          <a:prstGeom prst="rect">
            <a:avLst/>
          </a:prstGeom>
          <a:noFill/>
        </p:spPr>
        <p:txBody>
          <a:bodyPr wrap="square">
            <a:spAutoFit/>
          </a:bodyPr>
          <a:lstStyle/>
          <a:p>
            <a:pPr marL="457200" indent="-457200">
              <a:buFont typeface="+mj-lt"/>
              <a:buAutoNum type="arabicPeriod"/>
            </a:pPr>
            <a:r>
              <a:rPr lang="en-US" sz="2000" dirty="0">
                <a:latin typeface="+mj-lt"/>
              </a:rPr>
              <a:t>Ring Structures</a:t>
            </a:r>
          </a:p>
          <a:p>
            <a:pPr marL="457200" indent="-457200">
              <a:buFont typeface="+mj-lt"/>
              <a:buAutoNum type="arabicPeriod"/>
            </a:pPr>
            <a:r>
              <a:rPr lang="en-US" sz="2000" dirty="0">
                <a:latin typeface="+mj-lt"/>
              </a:rPr>
              <a:t>Hardness of the Problem </a:t>
            </a:r>
          </a:p>
          <a:p>
            <a:pPr marL="457200" indent="-457200">
              <a:buFont typeface="+mj-lt"/>
              <a:buAutoNum type="arabicPeriod"/>
            </a:pPr>
            <a:r>
              <a:rPr lang="en-US" sz="2000" dirty="0">
                <a:latin typeface="+mj-lt"/>
              </a:rPr>
              <a:t>Noise in the System</a:t>
            </a:r>
          </a:p>
          <a:p>
            <a:pPr marL="457200" indent="-457200">
              <a:buFont typeface="+mj-lt"/>
              <a:buAutoNum type="arabicPeriod"/>
            </a:pPr>
            <a:r>
              <a:rPr lang="en-US" sz="2000" dirty="0">
                <a:latin typeface="+mj-lt"/>
              </a:rPr>
              <a:t>Efficiency</a:t>
            </a:r>
          </a:p>
          <a:p>
            <a:pPr marL="457200" indent="-457200">
              <a:buFont typeface="+mj-lt"/>
              <a:buAutoNum type="arabicPeriod"/>
            </a:pPr>
            <a:r>
              <a:rPr lang="en-US" sz="2000" dirty="0">
                <a:latin typeface="+mj-lt"/>
              </a:rPr>
              <a:t>Security Reductions</a:t>
            </a:r>
          </a:p>
        </p:txBody>
      </p:sp>
    </p:spTree>
    <p:extLst>
      <p:ext uri="{BB962C8B-B14F-4D97-AF65-F5344CB8AC3E}">
        <p14:creationId xmlns:p14="http://schemas.microsoft.com/office/powerpoint/2010/main" val="3291357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934059" y="515817"/>
            <a:ext cx="6959863" cy="953399"/>
          </a:xfrm>
        </p:spPr>
        <p:txBody>
          <a:bodyPr/>
          <a:lstStyle/>
          <a:p>
            <a:r>
              <a:rPr lang="en-US" dirty="0"/>
              <a:t>ENCRYPTION</a:t>
            </a:r>
          </a:p>
        </p:txBody>
      </p:sp>
      <p:pic>
        <p:nvPicPr>
          <p:cNvPr id="7" name="Picture 6">
            <a:extLst>
              <a:ext uri="{FF2B5EF4-FFF2-40B4-BE49-F238E27FC236}">
                <a16:creationId xmlns:a16="http://schemas.microsoft.com/office/drawing/2014/main" id="{B0E6D821-2A12-078E-50BD-25A8F70E61BA}"/>
              </a:ext>
            </a:extLst>
          </p:cNvPr>
          <p:cNvPicPr>
            <a:picLocks noChangeAspect="1"/>
          </p:cNvPicPr>
          <p:nvPr/>
        </p:nvPicPr>
        <p:blipFill>
          <a:blip r:embed="rId2"/>
          <a:stretch>
            <a:fillRect/>
          </a:stretch>
        </p:blipFill>
        <p:spPr>
          <a:xfrm>
            <a:off x="909761" y="1899397"/>
            <a:ext cx="6984161" cy="1045882"/>
          </a:xfrm>
          <a:prstGeom prst="rect">
            <a:avLst/>
          </a:prstGeom>
        </p:spPr>
      </p:pic>
      <p:sp>
        <p:nvSpPr>
          <p:cNvPr id="8" name="TextBox 7">
            <a:extLst>
              <a:ext uri="{FF2B5EF4-FFF2-40B4-BE49-F238E27FC236}">
                <a16:creationId xmlns:a16="http://schemas.microsoft.com/office/drawing/2014/main" id="{58C8A1E4-200D-9E34-1918-412B94FEA44C}"/>
              </a:ext>
            </a:extLst>
          </p:cNvPr>
          <p:cNvSpPr txBox="1"/>
          <p:nvPr/>
        </p:nvSpPr>
        <p:spPr>
          <a:xfrm rot="10800000" flipV="1">
            <a:off x="3513784" y="3375461"/>
            <a:ext cx="1800412" cy="307777"/>
          </a:xfrm>
          <a:prstGeom prst="rect">
            <a:avLst/>
          </a:prstGeom>
          <a:noFill/>
        </p:spPr>
        <p:txBody>
          <a:bodyPr wrap="square" rtlCol="0">
            <a:spAutoFit/>
          </a:bodyPr>
          <a:lstStyle/>
          <a:p>
            <a:pPr algn="l"/>
            <a:r>
              <a:rPr lang="en-IN" dirty="0"/>
              <a:t>Server initiation</a:t>
            </a:r>
            <a:endParaRPr lang="en-US" dirty="0"/>
          </a:p>
        </p:txBody>
      </p:sp>
    </p:spTree>
    <p:extLst>
      <p:ext uri="{BB962C8B-B14F-4D97-AF65-F5344CB8AC3E}">
        <p14:creationId xmlns:p14="http://schemas.microsoft.com/office/powerpoint/2010/main" val="1782365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643950" y="154718"/>
            <a:ext cx="7997029" cy="1095476"/>
          </a:xfrm>
        </p:spPr>
        <p:txBody>
          <a:bodyPr/>
          <a:lstStyle/>
          <a:p>
            <a:r>
              <a:rPr lang="en-IN" sz="3600" dirty="0"/>
              <a:t>Key establishment using R- LWE</a:t>
            </a:r>
            <a:endParaRPr lang="en-US" sz="3600" dirty="0"/>
          </a:p>
        </p:txBody>
      </p:sp>
      <p:sp>
        <p:nvSpPr>
          <p:cNvPr id="8" name="TextBox 7">
            <a:extLst>
              <a:ext uri="{FF2B5EF4-FFF2-40B4-BE49-F238E27FC236}">
                <a16:creationId xmlns:a16="http://schemas.microsoft.com/office/drawing/2014/main" id="{58C8A1E4-200D-9E34-1918-412B94FEA44C}"/>
              </a:ext>
            </a:extLst>
          </p:cNvPr>
          <p:cNvSpPr txBox="1"/>
          <p:nvPr/>
        </p:nvSpPr>
        <p:spPr>
          <a:xfrm rot="10800000" flipV="1">
            <a:off x="3379312" y="4516927"/>
            <a:ext cx="2869833" cy="307777"/>
          </a:xfrm>
          <a:prstGeom prst="rect">
            <a:avLst/>
          </a:prstGeom>
          <a:noFill/>
        </p:spPr>
        <p:txBody>
          <a:bodyPr wrap="square" rtlCol="0">
            <a:spAutoFit/>
          </a:bodyPr>
          <a:lstStyle/>
          <a:p>
            <a:pPr algn="l"/>
            <a:r>
              <a:rPr lang="en-IN" dirty="0"/>
              <a:t>Shared key establishment</a:t>
            </a:r>
            <a:endParaRPr lang="en-US" dirty="0"/>
          </a:p>
        </p:txBody>
      </p:sp>
      <p:pic>
        <p:nvPicPr>
          <p:cNvPr id="5" name="Picture 4">
            <a:extLst>
              <a:ext uri="{FF2B5EF4-FFF2-40B4-BE49-F238E27FC236}">
                <a16:creationId xmlns:a16="http://schemas.microsoft.com/office/drawing/2014/main" id="{562B30E9-A97E-A95A-B444-76BB5928EC9E}"/>
              </a:ext>
            </a:extLst>
          </p:cNvPr>
          <p:cNvPicPr>
            <a:picLocks noChangeAspect="1"/>
          </p:cNvPicPr>
          <p:nvPr/>
        </p:nvPicPr>
        <p:blipFill>
          <a:blip r:embed="rId2"/>
          <a:stretch>
            <a:fillRect/>
          </a:stretch>
        </p:blipFill>
        <p:spPr>
          <a:xfrm>
            <a:off x="1345702" y="1134356"/>
            <a:ext cx="6452596" cy="3382571"/>
          </a:xfrm>
          <a:prstGeom prst="rect">
            <a:avLst/>
          </a:prstGeom>
        </p:spPr>
      </p:pic>
    </p:spTree>
    <p:extLst>
      <p:ext uri="{BB962C8B-B14F-4D97-AF65-F5344CB8AC3E}">
        <p14:creationId xmlns:p14="http://schemas.microsoft.com/office/powerpoint/2010/main" val="3070194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485823" y="241895"/>
            <a:ext cx="6959863" cy="953399"/>
          </a:xfrm>
        </p:spPr>
        <p:txBody>
          <a:bodyPr/>
          <a:lstStyle/>
          <a:p>
            <a:r>
              <a:rPr lang="en-IN" dirty="0"/>
              <a:t>Text message test</a:t>
            </a:r>
            <a:endParaRPr lang="en-US" dirty="0"/>
          </a:p>
        </p:txBody>
      </p:sp>
      <p:sp>
        <p:nvSpPr>
          <p:cNvPr id="8" name="TextBox 7">
            <a:extLst>
              <a:ext uri="{FF2B5EF4-FFF2-40B4-BE49-F238E27FC236}">
                <a16:creationId xmlns:a16="http://schemas.microsoft.com/office/drawing/2014/main" id="{58C8A1E4-200D-9E34-1918-412B94FEA44C}"/>
              </a:ext>
            </a:extLst>
          </p:cNvPr>
          <p:cNvSpPr txBox="1"/>
          <p:nvPr/>
        </p:nvSpPr>
        <p:spPr>
          <a:xfrm rot="10800000" flipV="1">
            <a:off x="3513784" y="4319906"/>
            <a:ext cx="1800412" cy="307777"/>
          </a:xfrm>
          <a:prstGeom prst="rect">
            <a:avLst/>
          </a:prstGeom>
          <a:noFill/>
        </p:spPr>
        <p:txBody>
          <a:bodyPr wrap="square" rtlCol="0">
            <a:spAutoFit/>
          </a:bodyPr>
          <a:lstStyle/>
          <a:p>
            <a:pPr algn="l"/>
            <a:r>
              <a:rPr lang="en-IN" dirty="0"/>
              <a:t>Message Test</a:t>
            </a:r>
            <a:endParaRPr lang="en-US" dirty="0"/>
          </a:p>
        </p:txBody>
      </p:sp>
      <p:pic>
        <p:nvPicPr>
          <p:cNvPr id="5" name="Picture 4">
            <a:extLst>
              <a:ext uri="{FF2B5EF4-FFF2-40B4-BE49-F238E27FC236}">
                <a16:creationId xmlns:a16="http://schemas.microsoft.com/office/drawing/2014/main" id="{2DD4426E-DDAF-7D50-7309-493632380C11}"/>
              </a:ext>
            </a:extLst>
          </p:cNvPr>
          <p:cNvPicPr>
            <a:picLocks noChangeAspect="1"/>
          </p:cNvPicPr>
          <p:nvPr/>
        </p:nvPicPr>
        <p:blipFill>
          <a:blip r:embed="rId2"/>
          <a:stretch>
            <a:fillRect/>
          </a:stretch>
        </p:blipFill>
        <p:spPr>
          <a:xfrm>
            <a:off x="1572748" y="1195294"/>
            <a:ext cx="5682482" cy="2978863"/>
          </a:xfrm>
          <a:prstGeom prst="rect">
            <a:avLst/>
          </a:prstGeom>
        </p:spPr>
      </p:pic>
    </p:spTree>
    <p:extLst>
      <p:ext uri="{BB962C8B-B14F-4D97-AF65-F5344CB8AC3E}">
        <p14:creationId xmlns:p14="http://schemas.microsoft.com/office/powerpoint/2010/main" val="97427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770428" y="174314"/>
            <a:ext cx="6959863" cy="704379"/>
          </a:xfrm>
        </p:spPr>
        <p:txBody>
          <a:bodyPr/>
          <a:lstStyle/>
          <a:p>
            <a:r>
              <a:rPr lang="en-IN" dirty="0"/>
              <a:t>Voice message test</a:t>
            </a:r>
            <a:endParaRPr lang="en-US" dirty="0"/>
          </a:p>
        </p:txBody>
      </p:sp>
      <p:sp>
        <p:nvSpPr>
          <p:cNvPr id="8" name="TextBox 7">
            <a:extLst>
              <a:ext uri="{FF2B5EF4-FFF2-40B4-BE49-F238E27FC236}">
                <a16:creationId xmlns:a16="http://schemas.microsoft.com/office/drawing/2014/main" id="{58C8A1E4-200D-9E34-1918-412B94FEA44C}"/>
              </a:ext>
            </a:extLst>
          </p:cNvPr>
          <p:cNvSpPr txBox="1"/>
          <p:nvPr/>
        </p:nvSpPr>
        <p:spPr>
          <a:xfrm rot="10800000" flipV="1">
            <a:off x="3230838" y="3982208"/>
            <a:ext cx="3876903" cy="307777"/>
          </a:xfrm>
          <a:prstGeom prst="rect">
            <a:avLst/>
          </a:prstGeom>
          <a:noFill/>
        </p:spPr>
        <p:txBody>
          <a:bodyPr wrap="square" rtlCol="0">
            <a:spAutoFit/>
          </a:bodyPr>
          <a:lstStyle/>
          <a:p>
            <a:pPr algn="l"/>
            <a:r>
              <a:rPr lang="en-IN" dirty="0"/>
              <a:t>Sender sending voice message</a:t>
            </a:r>
            <a:endParaRPr lang="en-US" dirty="0"/>
          </a:p>
        </p:txBody>
      </p:sp>
      <p:pic>
        <p:nvPicPr>
          <p:cNvPr id="5" name="Picture 4">
            <a:extLst>
              <a:ext uri="{FF2B5EF4-FFF2-40B4-BE49-F238E27FC236}">
                <a16:creationId xmlns:a16="http://schemas.microsoft.com/office/drawing/2014/main" id="{CA2D9724-B813-B417-049B-761750A52970}"/>
              </a:ext>
            </a:extLst>
          </p:cNvPr>
          <p:cNvPicPr>
            <a:picLocks noChangeAspect="1"/>
          </p:cNvPicPr>
          <p:nvPr/>
        </p:nvPicPr>
        <p:blipFill>
          <a:blip r:embed="rId2"/>
          <a:stretch>
            <a:fillRect/>
          </a:stretch>
        </p:blipFill>
        <p:spPr>
          <a:xfrm>
            <a:off x="1309594" y="1599111"/>
            <a:ext cx="6524812" cy="1970456"/>
          </a:xfrm>
          <a:prstGeom prst="rect">
            <a:avLst/>
          </a:prstGeom>
        </p:spPr>
      </p:pic>
    </p:spTree>
    <p:extLst>
      <p:ext uri="{BB962C8B-B14F-4D97-AF65-F5344CB8AC3E}">
        <p14:creationId xmlns:p14="http://schemas.microsoft.com/office/powerpoint/2010/main" val="1788584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770428" y="174314"/>
            <a:ext cx="6959863" cy="704379"/>
          </a:xfrm>
        </p:spPr>
        <p:txBody>
          <a:bodyPr/>
          <a:lstStyle/>
          <a:p>
            <a:r>
              <a:rPr lang="en-IN" dirty="0"/>
              <a:t>Voice message test</a:t>
            </a:r>
            <a:endParaRPr lang="en-US" dirty="0"/>
          </a:p>
        </p:txBody>
      </p:sp>
      <p:sp>
        <p:nvSpPr>
          <p:cNvPr id="8" name="TextBox 7">
            <a:extLst>
              <a:ext uri="{FF2B5EF4-FFF2-40B4-BE49-F238E27FC236}">
                <a16:creationId xmlns:a16="http://schemas.microsoft.com/office/drawing/2014/main" id="{58C8A1E4-200D-9E34-1918-412B94FEA44C}"/>
              </a:ext>
            </a:extLst>
          </p:cNvPr>
          <p:cNvSpPr txBox="1"/>
          <p:nvPr/>
        </p:nvSpPr>
        <p:spPr>
          <a:xfrm rot="10800000" flipV="1">
            <a:off x="3181034" y="3708286"/>
            <a:ext cx="3876903" cy="307777"/>
          </a:xfrm>
          <a:prstGeom prst="rect">
            <a:avLst/>
          </a:prstGeom>
          <a:noFill/>
        </p:spPr>
        <p:txBody>
          <a:bodyPr wrap="square" rtlCol="0">
            <a:spAutoFit/>
          </a:bodyPr>
          <a:lstStyle/>
          <a:p>
            <a:pPr algn="l"/>
            <a:r>
              <a:rPr lang="en-IN" dirty="0"/>
              <a:t>Receiver side response</a:t>
            </a:r>
            <a:endParaRPr lang="en-US" dirty="0"/>
          </a:p>
        </p:txBody>
      </p:sp>
      <p:pic>
        <p:nvPicPr>
          <p:cNvPr id="6" name="Picture 5">
            <a:extLst>
              <a:ext uri="{FF2B5EF4-FFF2-40B4-BE49-F238E27FC236}">
                <a16:creationId xmlns:a16="http://schemas.microsoft.com/office/drawing/2014/main" id="{55421B20-2F1D-27B2-5686-E4B6183F0DA4}"/>
              </a:ext>
            </a:extLst>
          </p:cNvPr>
          <p:cNvPicPr>
            <a:picLocks noChangeAspect="1"/>
          </p:cNvPicPr>
          <p:nvPr/>
        </p:nvPicPr>
        <p:blipFill>
          <a:blip r:embed="rId2"/>
          <a:stretch>
            <a:fillRect/>
          </a:stretch>
        </p:blipFill>
        <p:spPr>
          <a:xfrm>
            <a:off x="770428" y="1784370"/>
            <a:ext cx="7381081" cy="1574759"/>
          </a:xfrm>
          <a:prstGeom prst="rect">
            <a:avLst/>
          </a:prstGeom>
        </p:spPr>
      </p:pic>
    </p:spTree>
    <p:extLst>
      <p:ext uri="{BB962C8B-B14F-4D97-AF65-F5344CB8AC3E}">
        <p14:creationId xmlns:p14="http://schemas.microsoft.com/office/powerpoint/2010/main" val="214674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4B25-B009-6271-5F8B-CEEA30FF610B}"/>
              </a:ext>
            </a:extLst>
          </p:cNvPr>
          <p:cNvSpPr>
            <a:spLocks noGrp="1"/>
          </p:cNvSpPr>
          <p:nvPr>
            <p:ph type="title"/>
          </p:nvPr>
        </p:nvSpPr>
        <p:spPr>
          <a:xfrm>
            <a:off x="485823" y="241895"/>
            <a:ext cx="6959863" cy="953399"/>
          </a:xfrm>
        </p:spPr>
        <p:txBody>
          <a:bodyPr/>
          <a:lstStyle/>
          <a:p>
            <a:r>
              <a:rPr lang="en-IN" dirty="0"/>
              <a:t>Encrypted message</a:t>
            </a:r>
            <a:endParaRPr lang="en-US" dirty="0"/>
          </a:p>
        </p:txBody>
      </p:sp>
      <p:sp>
        <p:nvSpPr>
          <p:cNvPr id="8" name="TextBox 7">
            <a:extLst>
              <a:ext uri="{FF2B5EF4-FFF2-40B4-BE49-F238E27FC236}">
                <a16:creationId xmlns:a16="http://schemas.microsoft.com/office/drawing/2014/main" id="{58C8A1E4-200D-9E34-1918-412B94FEA44C}"/>
              </a:ext>
            </a:extLst>
          </p:cNvPr>
          <p:cNvSpPr txBox="1"/>
          <p:nvPr/>
        </p:nvSpPr>
        <p:spPr>
          <a:xfrm rot="10800000" flipV="1">
            <a:off x="3084164" y="3446461"/>
            <a:ext cx="3159941" cy="307777"/>
          </a:xfrm>
          <a:prstGeom prst="rect">
            <a:avLst/>
          </a:prstGeom>
          <a:noFill/>
        </p:spPr>
        <p:txBody>
          <a:bodyPr wrap="square" rtlCol="0">
            <a:spAutoFit/>
          </a:bodyPr>
          <a:lstStyle/>
          <a:p>
            <a:pPr algn="l"/>
            <a:r>
              <a:rPr lang="en-IN" dirty="0"/>
              <a:t>Encrypted message at server</a:t>
            </a:r>
            <a:endParaRPr lang="en-US" dirty="0"/>
          </a:p>
        </p:txBody>
      </p:sp>
      <p:pic>
        <p:nvPicPr>
          <p:cNvPr id="6" name="Picture 5">
            <a:extLst>
              <a:ext uri="{FF2B5EF4-FFF2-40B4-BE49-F238E27FC236}">
                <a16:creationId xmlns:a16="http://schemas.microsoft.com/office/drawing/2014/main" id="{9E60C9E6-050B-69C7-029B-4EDF41C5D97E}"/>
              </a:ext>
            </a:extLst>
          </p:cNvPr>
          <p:cNvPicPr>
            <a:picLocks noChangeAspect="1"/>
          </p:cNvPicPr>
          <p:nvPr/>
        </p:nvPicPr>
        <p:blipFill>
          <a:blip r:embed="rId2"/>
          <a:stretch>
            <a:fillRect/>
          </a:stretch>
        </p:blipFill>
        <p:spPr>
          <a:xfrm>
            <a:off x="823886" y="1913066"/>
            <a:ext cx="7680499" cy="1317367"/>
          </a:xfrm>
          <a:prstGeom prst="rect">
            <a:avLst/>
          </a:prstGeom>
        </p:spPr>
      </p:pic>
    </p:spTree>
    <p:extLst>
      <p:ext uri="{BB962C8B-B14F-4D97-AF65-F5344CB8AC3E}">
        <p14:creationId xmlns:p14="http://schemas.microsoft.com/office/powerpoint/2010/main" val="3266703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B1F6-EC8C-33E1-F656-E7DD90D68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CC518-FBCC-27E5-3D28-3FD3DF82BE40}"/>
              </a:ext>
            </a:extLst>
          </p:cNvPr>
          <p:cNvSpPr>
            <a:spLocks noGrp="1"/>
          </p:cNvSpPr>
          <p:nvPr>
            <p:ph type="title"/>
          </p:nvPr>
        </p:nvSpPr>
        <p:spPr>
          <a:xfrm>
            <a:off x="934060" y="515818"/>
            <a:ext cx="6827190" cy="636476"/>
          </a:xfrm>
        </p:spPr>
        <p:txBody>
          <a:bodyPr/>
          <a:lstStyle/>
          <a:p>
            <a:r>
              <a:rPr lang="en" sz="4000" dirty="0"/>
              <a:t>Conclusion</a:t>
            </a:r>
            <a:endParaRPr lang="en-US" sz="4000" dirty="0"/>
          </a:p>
        </p:txBody>
      </p:sp>
      <p:sp>
        <p:nvSpPr>
          <p:cNvPr id="8" name="TextBox 7">
            <a:extLst>
              <a:ext uri="{FF2B5EF4-FFF2-40B4-BE49-F238E27FC236}">
                <a16:creationId xmlns:a16="http://schemas.microsoft.com/office/drawing/2014/main" id="{832A1ACF-E9B0-0108-907E-BFFA92E0B381}"/>
              </a:ext>
            </a:extLst>
          </p:cNvPr>
          <p:cNvSpPr txBox="1"/>
          <p:nvPr/>
        </p:nvSpPr>
        <p:spPr>
          <a:xfrm rot="10800000" flipV="1">
            <a:off x="844851" y="1422443"/>
            <a:ext cx="7265728" cy="2537618"/>
          </a:xfrm>
          <a:prstGeom prst="rect">
            <a:avLst/>
          </a:prstGeom>
          <a:noFill/>
        </p:spPr>
        <p:txBody>
          <a:bodyPr wrap="square" rtlCol="0">
            <a:spAutoFit/>
          </a:bodyPr>
          <a:lstStyle/>
          <a:p>
            <a:pPr marL="182880" marR="0" indent="182880" algn="just">
              <a:lnSpc>
                <a:spcPct val="95000"/>
              </a:lnSpc>
              <a:spcAft>
                <a:spcPts val="600"/>
              </a:spcAft>
              <a:tabLst>
                <a:tab pos="182880" algn="l"/>
              </a:tabLst>
            </a:pPr>
            <a:r>
              <a:rPr lang="en-IN" sz="1800" spc="-5" dirty="0">
                <a:effectLst/>
                <a:latin typeface="Times New Roman" panose="02020603050405020304" pitchFamily="18" charset="0"/>
                <a:ea typeface="SimSun" panose="02010600030101010101" pitchFamily="2" charset="-122"/>
              </a:rPr>
              <a:t>A Secure chat application was implemented as proposed by Ring LWE and ChaCha20. The integration of these modules were implemented by incorporating the Ring LWE and ChaCha20 which in turn helped in encrypting and decrypting a text or voice message sent through our secured messaging application. </a:t>
            </a:r>
          </a:p>
          <a:p>
            <a:pPr marL="182880" marR="0" indent="182880" algn="just">
              <a:lnSpc>
                <a:spcPct val="95000"/>
              </a:lnSpc>
              <a:spcAft>
                <a:spcPts val="600"/>
              </a:spcAft>
              <a:tabLst>
                <a:tab pos="182880" algn="l"/>
              </a:tabLst>
            </a:pPr>
            <a:r>
              <a:rPr lang="en-IN" sz="1800" spc="-5" dirty="0">
                <a:effectLst/>
                <a:latin typeface="Times New Roman" panose="02020603050405020304" pitchFamily="18" charset="0"/>
                <a:ea typeface="SimSun" panose="02010600030101010101" pitchFamily="2" charset="-122"/>
              </a:rPr>
              <a:t>the project ensures secure communication and also increases error handling with authentication. further real-time voice streaming also have been tried in this project. produces a novelty of integrating two security standards </a:t>
            </a:r>
          </a:p>
        </p:txBody>
      </p:sp>
    </p:spTree>
    <p:extLst>
      <p:ext uri="{BB962C8B-B14F-4D97-AF65-F5344CB8AC3E}">
        <p14:creationId xmlns:p14="http://schemas.microsoft.com/office/powerpoint/2010/main" val="124364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B463-9C7C-405F-C3F1-C73E8D0244E9}"/>
              </a:ext>
            </a:extLst>
          </p:cNvPr>
          <p:cNvSpPr>
            <a:spLocks noGrp="1"/>
          </p:cNvSpPr>
          <p:nvPr>
            <p:ph type="title"/>
          </p:nvPr>
        </p:nvSpPr>
        <p:spPr>
          <a:xfrm>
            <a:off x="2863960" y="2083924"/>
            <a:ext cx="3964835" cy="487826"/>
          </a:xfrm>
        </p:spPr>
        <p:txBody>
          <a:bodyPr/>
          <a:lstStyle/>
          <a:p>
            <a:r>
              <a:rPr lang="en-IN" dirty="0"/>
              <a:t>Thank you</a:t>
            </a:r>
            <a:endParaRPr lang="en-US" dirty="0"/>
          </a:p>
        </p:txBody>
      </p:sp>
    </p:spTree>
    <p:extLst>
      <p:ext uri="{BB962C8B-B14F-4D97-AF65-F5344CB8AC3E}">
        <p14:creationId xmlns:p14="http://schemas.microsoft.com/office/powerpoint/2010/main" val="3916926817"/>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260</Words>
  <Application>Microsoft Office PowerPoint</Application>
  <PresentationFormat>On-screen Show (16:9)</PresentationFormat>
  <Paragraphs>37</Paragraphs>
  <Slides>13</Slides>
  <Notes>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13</vt:i4>
      </vt:variant>
    </vt:vector>
  </HeadingPairs>
  <TitlesOfParts>
    <vt:vector size="30" baseType="lpstr">
      <vt:lpstr>Proxima Nova</vt:lpstr>
      <vt:lpstr>Russo One</vt:lpstr>
      <vt:lpstr>Montserrat</vt:lpstr>
      <vt:lpstr>Arial</vt:lpstr>
      <vt:lpstr>Merriweather Light</vt:lpstr>
      <vt:lpstr>Lato</vt:lpstr>
      <vt:lpstr>Times New Roman</vt:lpstr>
      <vt:lpstr>Vidaloka</vt:lpstr>
      <vt:lpstr>Josefin Sans</vt:lpstr>
      <vt:lpstr>Open Sans</vt:lpstr>
      <vt:lpstr>Mako</vt:lpstr>
      <vt:lpstr>Crimson Text</vt:lpstr>
      <vt:lpstr>Open Sans SemiBold</vt:lpstr>
      <vt:lpstr>Proxima Nova Semibold</vt:lpstr>
      <vt:lpstr>Minimalist Business Slides XL by Slidesgo</vt:lpstr>
      <vt:lpstr>Slidesgo Final Pages</vt:lpstr>
      <vt:lpstr>Slidesgo Final Pages</vt:lpstr>
      <vt:lpstr>Secure Text and Voice Chat Implementation UsingRING- LWE and ChaCha20 Cryptography</vt:lpstr>
      <vt:lpstr>Introduction</vt:lpstr>
      <vt:lpstr> </vt:lpstr>
      <vt:lpstr>BLOCK DIAGRAM – KEY GENERATION and encryption</vt:lpstr>
      <vt:lpstr> </vt:lpstr>
      <vt:lpstr>ENCRYPTION</vt:lpstr>
      <vt:lpstr>Key establishment using R- LWE</vt:lpstr>
      <vt:lpstr>Text message test</vt:lpstr>
      <vt:lpstr>Voice message test</vt:lpstr>
      <vt:lpstr>Voice message test</vt:lpstr>
      <vt:lpstr>Encrypted message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Text and Voice Chat Implementation UsingRING- LWE and ChaCha20 Cryptography</dc:title>
  <cp:lastModifiedBy>Suriya R</cp:lastModifiedBy>
  <cp:revision>5</cp:revision>
  <dcterms:modified xsi:type="dcterms:W3CDTF">2024-11-26T05:18:58Z</dcterms:modified>
</cp:coreProperties>
</file>